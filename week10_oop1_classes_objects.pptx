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49E"/>
                </a:solidFill>
                <a:latin typeface="Consolas"/>
              </a:rPr>
              <a:t>ISM3232  · 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DD4BF"/>
                </a:solidFill>
                <a:latin typeface="Segoe UI Semibold"/>
              </a:rPr>
              <a:t>OOP I — Classes &amp;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8B949E"/>
                </a:solidFill>
                <a:latin typeface="Segoe UI"/>
              </a:rPr>
              <a:t>Build your first business class with __init__, instance attributes,</a:t>
            </a:r>
          </a:p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8B949E"/>
                </a:solidFill>
                <a:latin typeface="Segoe UI"/>
              </a:rPr>
              <a:t>business logic methods, and a full pytest test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5559552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59936"/>
            <a:ext cx="5559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818CF8"/>
                </a:solidFill>
                <a:latin typeface="Consolas"/>
              </a:rPr>
              <a:t>Unit 3 · Object-Oriented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65392" y="3977639"/>
            <a:ext cx="1938528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4059936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DD4BF"/>
                </a:solidFill>
                <a:latin typeface="Consolas"/>
              </a:rPr>
              <a:t>Module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977639"/>
            <a:ext cx="1609344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405993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BBF24"/>
                </a:solidFill>
                <a:latin typeface="Consolas"/>
              </a:rPr>
              <a:t>~80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2084831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937760"/>
            <a:ext cx="18653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0–15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193792"/>
            <a:ext cx="1865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What is a class? Mental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19" y="4846320"/>
            <a:ext cx="2084831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7" y="4937760"/>
            <a:ext cx="18653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15–40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7" y="5193792"/>
            <a:ext cx="1865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Write BusinessRequest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8" y="4846320"/>
            <a:ext cx="2084831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6" y="4937760"/>
            <a:ext cx="18653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40–55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6" y="5193792"/>
            <a:ext cx="1865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Create instances + call methods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37" y="4846320"/>
            <a:ext cx="2084831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5" y="4937760"/>
            <a:ext cx="18653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55–70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5" y="5193792"/>
            <a:ext cx="1865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Encapsulation concept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196" y="4846320"/>
            <a:ext cx="2084831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4" y="4937760"/>
            <a:ext cx="18653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70–80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4" y="5193792"/>
            <a:ext cx="1865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Title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What Is a Class?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What Is an Object?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A class is a blueprint. An object is a specific thing built from that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blueprint. Each individual request is a separate instance of the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1 · THE CORE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Segoe UI Semibold"/>
              </a:rPr>
              <a:t>Class = blueprint.  Instance = filled-out 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161B2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0800" cy="137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🎯 BUSINESS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"BusinessRequest" is the concept — the blank Purchase Request form template.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req_101 is an actual filled-out request: Taylor, Equipment, $1,200.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The class defines the shape; objects are the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5394960" cy="2651760"/>
          </a:xfrm>
          <a:prstGeom prst="rect">
            <a:avLst/>
          </a:prstGeom>
          <a:solidFill>
            <a:srgbClr val="161B2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50800" cy="265176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18CF8"/>
                </a:solidFill>
                <a:latin typeface="Consolas"/>
              </a:rPr>
              <a:t>CLASS =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8920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Defines attributes every instance will have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Defines methods every instance can call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Written once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Used to create as many instances as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394960" cy="2651760"/>
          </a:xfrm>
          <a:prstGeom prst="rect">
            <a:avLst/>
          </a:prstGeom>
          <a:solidFill>
            <a:srgbClr val="161B22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0800" cy="26517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6499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DE80"/>
                </a:solidFill>
                <a:latin typeface="Consolas"/>
              </a:rPr>
              <a:t>OBJECT / INSTANCE = A SPECIFIC 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48920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Created by calling the class like a function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Has its own copies of every attribute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Can call any method defined in the class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Independent of every other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Mental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1 ·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Segoe UI Semibold"/>
              </a:rPr>
              <a:t>Six terms you need this week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63440"/>
                <a:gridCol w="4572000"/>
              </a:tblGrid>
              <a:tr h="66620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949E"/>
                          </a:solidFill>
                          <a:latin typeface="Consolas"/>
                        </a:rPr>
                        <a:t>Term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949E"/>
                          </a:solidFill>
                          <a:latin typeface="Consolas"/>
                        </a:rPr>
                        <a:t>Meaning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949E"/>
                          </a:solidFill>
                          <a:latin typeface="Consolas"/>
                        </a:rPr>
                        <a:t>Business analogy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class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The blueprint / template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The Purchase Request form template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object / instance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A specific thing made from the blueprint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A filled-out request for Laptop, $450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__init__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The constructor — runs when an instance is created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Filling in the blank fields on a new request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attribute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Data stored on a specific object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requester="Taylor", amount=1200, status="Pending"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A function defined inside a class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approve(), reject(), requires_review()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  <a:tr h="66621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onsolas"/>
                        </a:rPr>
                        <a:t>self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Reference to the specific instance being operated on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DF3"/>
                          </a:solidFill>
                          <a:latin typeface="Segoe UI"/>
                        </a:rPr>
                        <a:t>The form itself, not the template</a:t>
                      </a:r>
                    </a:p>
                  </a:txBody>
                  <a:tcPr marT="50800" marB="50800">
                    <a:solidFill>
                      <a:srgbClr val="14192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Writing the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BusinessRequest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Live demo — build the class line by line,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2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DF3"/>
                </a:solidFill>
                <a:latin typeface="Segoe UI Semibold"/>
              </a:rPr>
              <a:t>BusinessRequest — write together, line by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060704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APPROVAL_LIMIT = 1000.00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class BusinessRequest: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"""Represents a single purchase approval request."""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def __init__(self, req_id, requester, category, amount):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self.req_id    = req_id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self.requester = requester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self.category  = category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self.amount    = amount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self.status    = 'Pending'   # default — not a parameter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def approve(self):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"""Mark this request as Approved."""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self.status = 'Approved'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def reject(self):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"""Mark this request as Rejected."""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self.status = 'Rejected'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def requires_review(self):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"""Return True if amount exceeds the approval limit."""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return self.amount &gt; APPROVAL_LIMIT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def __repr__(self):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return (f'BusinessRequest(id={self.req_id}, '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               f'requester={self.requester!r}, status={self.status!r})')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The BusinessRequest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SECTION 2 · COMMON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DF3"/>
                </a:solidFill>
                <a:latin typeface="Segoe UI Semibold"/>
              </a:rPr>
              <a:t>⚠ self is the instance — two mistakes in one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40680" cy="356616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</a:rPr>
              <a:t>✗ MISSING SELF + LOCAL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8"/>
            <a:ext cx="4983480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class BusinessRequest: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def approve():            # missing self -&gt; TypeError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    status = 'Approved'   # local variable -- vanishes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req = BusinessRequest(1, 'T', 'E', 500)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req.approve()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8B949E"/>
                </a:solidFill>
                <a:latin typeface="Consolas"/>
              </a:rPr>
              <a:t># TypeError: approve() takes 0 positional arguments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5440680" cy="356616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2704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</a:rPr>
              <a:t>✓ SELF AS FIRST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92808"/>
            <a:ext cx="4983480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class BusinessRequest: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def approve(self):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    self.status = 'Approved'   # changes THIS instance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req = BusinessRequest(1, 'T', 'E', 500)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req.approve()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print(req.status)   # 'Approved'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161B22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166360"/>
            <a:ext cx="50800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3095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Consolas"/>
              </a:rP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56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E6EDF3"/>
                </a:solidFill>
                <a:latin typeface="Segoe UI"/>
              </a:rPr>
              <a:t>Every method needs self as its first parameter.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E6EDF3"/>
                </a:solidFill>
                <a:latin typeface="Segoe UI"/>
              </a:rPr>
              <a:t>Every attribute change needs self.attribute, not a bare variable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self and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Instance Independence —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the Most Important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Approving one instance must not affect others.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Each instance has its own copy of every attribute.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INSTANCE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DF3"/>
                </a:solidFill>
                <a:latin typeface="Segoe UI Semibold"/>
              </a:rPr>
              <a:t>Approving one instance must not affect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req1 = BusinessRequest(1, 'Taylor', 'Equipment', 1200.00)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req2 = BusinessRequest(2, 'Jordan', 'Travel',     350.00)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req1.approve()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print(req1.status)  # Approved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print(req2.status)  # Pending  &lt;- still Pending!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8B949E"/>
                </a:solidFill>
                <a:latin typeface="Consolas"/>
              </a:rPr>
              <a:t># Each instance has its own copy of every attribute.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solidFill>
            <a:srgbClr val="161B22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0800" cy="1828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Consolas"/>
              </a:rPr>
              <a:t>✍ THINK BEFORE READING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61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6EDF3"/>
                </a:solidFill>
                <a:latin typeface="Segoe UI"/>
              </a:rPr>
              <a:t>Before running the independence demo: if you call req1.approve(),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6EDF3"/>
                </a:solidFill>
                <a:latin typeface="Segoe UI"/>
              </a:rPr>
              <a:t>what do you predict req2.status will be?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6EDF3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6EDF3"/>
                </a:solidFill>
                <a:latin typeface="Segoe UI"/>
              </a:rPr>
              <a:t>What would it be if status were defined at class level instead of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6EDF3"/>
                </a:solidFill>
                <a:latin typeface="Segoe UI"/>
              </a:rPr>
              <a:t>inside __init__?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Instance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Creating and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Using Instances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3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DF3"/>
                </a:solidFill>
                <a:latin typeface="Segoe UI Semibold"/>
              </a:rPr>
              <a:t>Creating instances and calling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060704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50">
                <a:solidFill>
                  <a:srgbClr val="8B949E"/>
                </a:solidFill>
                <a:latin typeface="Consolas"/>
              </a:rPr>
              <a:t># Create two separate instances from the same class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req_101 = BusinessRequest(101, "Taylor", "Travel", 1200)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req_102 = BusinessRequest(102, "Jordan", "Equipment", 450)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8B949E"/>
                </a:solidFill>
                <a:latin typeface="Consolas"/>
              </a:rPr>
              <a:t># Access attributes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print(req_101.requester)          # Taylor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print(req_101.status)             # Pending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8B949E"/>
                </a:solidFill>
                <a:latin typeface="Consolas"/>
              </a:rPr>
              <a:t># Call methods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print(req_101.requires_review())  # True (1200 &gt; 1000)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print(req_102.requires_review())  # False (450 &lt;= 1000)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req_101.approve()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print(req_101.status)             # Approved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print(req_102.status)             # Pending -- unchanged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8B949E"/>
                </a:solidFill>
                <a:latin typeface="Consolas"/>
              </a:rPr>
              <a:t># Instances are independent -- changing one does not affect the other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print(req_101)   # BusinessRequest(101, Taylor, $1200, Approved)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CDD6F4"/>
                </a:solidFill>
                <a:latin typeface="Consolas"/>
              </a:rPr>
              <a:t>print(req_102)   # BusinessRequest(102, Jordan, $450, Pending)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Creating &amp; Using Instances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Encapsulation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4 ·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Segoe UI Semibold"/>
              </a:rPr>
              <a:t>Data and behaviour belong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1064240" cy="1920240"/>
          </a:xfrm>
          <a:prstGeom prst="rect">
            <a:avLst/>
          </a:prstGeom>
          <a:solidFill>
            <a:srgbClr val="161B2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0800" cy="192024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6479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18CF8"/>
                </a:solidFill>
                <a:latin typeface="Consolas"/>
              </a:rPr>
              <a:t>WHAT IS ENCAPSULATION?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61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6EDF3"/>
                </a:solidFill>
                <a:latin typeface="Segoe UI"/>
              </a:rPr>
              <a:t>Bundling the data (attributes) and the operations on that data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6EDF3"/>
                </a:solidFill>
                <a:latin typeface="Segoe UI"/>
              </a:rPr>
              <a:t>(methods) into a single unit. The BusinessRequest class knows how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6EDF3"/>
                </a:solidFill>
                <a:latin typeface="Segoe UI"/>
              </a:rPr>
              <a:t>to approve itself, reject itself, and determine whether it needs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6EDF3"/>
                </a:solidFill>
                <a:latin typeface="Segoe UI"/>
              </a:rPr>
              <a:t>review. The caller does not need to know the internal logic — it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6EDF3"/>
                </a:solidFill>
                <a:latin typeface="Segoe UI"/>
              </a:rPr>
              <a:t>just calls the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11064240" cy="1188720"/>
          </a:xfrm>
          <a:prstGeom prst="rect">
            <a:avLst/>
          </a:prstGeom>
          <a:solidFill>
            <a:srgbClr val="161B22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50800" cy="1188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6791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DE80"/>
                </a:solidFill>
                <a:latin typeface="Consola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561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Better design than checking req["amount"] &gt; 1000 everywhere.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E6EDF3"/>
                </a:solidFill>
                <a:latin typeface="Segoe UI"/>
              </a:rPr>
              <a:t>If the threshold changes, you update it in one place inside the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161B22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074920"/>
            <a:ext cx="50800" cy="1234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39512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Consolas"/>
              </a:rPr>
              <a:t>💬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6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E6EDF3"/>
                </a:solidFill>
                <a:latin typeface="Segoe UI"/>
              </a:rPr>
              <a:t>What other methods might a BusinessRequest class need? Think about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E6EDF3"/>
                </a:solidFill>
                <a:latin typeface="Segoe UI"/>
              </a:rPr>
              <a:t>routing, escalation, history tracking, notifications.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Encapsulation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Consolas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The Six Required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6EDF3"/>
                </a:solidFill>
                <a:latin typeface="Segoe UI Semibold"/>
              </a:rPr>
              <a:t>Test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2801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tests/test_models.py — every method, every edge case, and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8B949E"/>
                </a:solidFill>
                <a:latin typeface="Segoe UI"/>
              </a:rPr>
              <a:t>instance independence, all verified with pytest.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Section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SECTION 5 ·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EDF3"/>
                </a:solidFill>
                <a:latin typeface="Segoe UI Semibold"/>
              </a:rPr>
              <a:t>tests/test_models.py — the six required test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40680" cy="512064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498348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from models import BusinessRequest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test_default_status_is_pending():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 = BusinessRequest(1, 'T', 'Equipment', 500.00)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req.status == 'Pending'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test_approve_sets_status():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 = BusinessRequest(2, 'T', 'Equipment', 500.00)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req.approve()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req.status == 'Approved'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test_requires_review_true():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 = BusinessRequest(3, 'T', 'Equipment', 1200.00)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req.requires_review() is 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440680" cy="5120640"/>
          </a:xfrm>
          <a:prstGeom prst="rect">
            <a:avLst/>
          </a:prstGeom>
          <a:solidFill>
            <a:srgbClr val="0A0A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35608"/>
            <a:ext cx="498348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test_requires_review_false():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 = BusinessRequest(4, 'T', 'Equipment', 500.00)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req.requires_review() is False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test_boundary_at_limit():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 = BusinessRequest(5, 'T', 'Equipment', 1000.00)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req.requires_review() is False   # &gt; not &gt;=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def test_instance_independence():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req1 = BusinessRequest(6, 'A', 'Equipment', 500.00)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req2 = BusinessRequest(7, 'B', 'Travel',    500.00)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req1.approve()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req1.status == 'Approved'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DD6F4"/>
                </a:solidFill>
                <a:latin typeface="Consolas"/>
              </a:rPr>
              <a:t>    assert req2.status == 'Pending'   #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Required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6EDF3"/>
                </a:solidFill>
                <a:latin typeface="Segoe UI Semibold"/>
              </a:rPr>
              <a:t>Key terms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536192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A blueprint that defines what objects of that type have and can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29968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instance /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10312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One specific thing built from a class.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96896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7004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__init__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70048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The constructor — runs once when an instance is created.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63824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36976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The specific instance the method is being called 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0752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0390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instance 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803904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A variable stored on a specific instance. Accessed with self.name.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70832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A function defined inside a class. Always takes self as the first parameter.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64608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__repr__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93776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Returns a readable string representation of the object. Used by print().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31536"/>
            <a:ext cx="1106424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0468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Consolas"/>
              </a:rPr>
              <a:t>encapsulation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504688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Bundling data and the methods that operate on it inside one class.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Key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ASSIGNMENT 10 · DUE END OF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6EDF3"/>
                </a:solidFill>
                <a:latin typeface="Segoe UI Semibold"/>
              </a:rPr>
              <a:t>BusinessRequest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4663440"/>
          </a:xfrm>
          <a:prstGeom prst="rect">
            <a:avLst/>
          </a:prstGeom>
          <a:solidFill>
            <a:srgbClr val="161B22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onsolas"/>
              </a:rPr>
              <a:t>models.py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B949E"/>
                </a:solidFill>
                <a:latin typeface="Segoe UI"/>
              </a:rPr>
              <a:t>Contains the BusinessRequest class with __init__, at least 3 methods, and __repr__.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243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onsolas"/>
              </a:rP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24328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B949E"/>
                </a:solidFill>
                <a:latin typeface="Segoe UI"/>
              </a:rPr>
              <a:t>Creates at least 3 instances, calls each method, and prints results showing they work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655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onsolas"/>
              </a:rPr>
              <a:t>tests/test_models.py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65576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B949E"/>
                </a:solidFill>
                <a:latin typeface="Segoe UI"/>
              </a:rPr>
              <a:t>At least 4 pytest tests covering the class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068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onsolas"/>
              </a:rPr>
              <a:t>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06824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B949E"/>
                </a:solidFill>
                <a:latin typeface="Segoe UI"/>
              </a:rPr>
              <a:t>Full pre-submission ritual passing before push.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4807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4807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onsolas"/>
              </a:rPr>
              <a:t>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48072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B949E"/>
                </a:solidFill>
                <a:latin typeface="Segoe UI"/>
              </a:rPr>
              <a:t>GitHub repository URL.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Assignment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Consolas"/>
              </a:rP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6EDF3"/>
                </a:solidFill>
                <a:latin typeface="Segoe UI Semibold"/>
              </a:rPr>
              <a:t>Before you leave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292608" cy="292608"/>
          </a:xfrm>
          <a:prstGeom prst="rect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6EDF3"/>
                </a:solidFill>
                <a:latin typeface="Segoe UI"/>
              </a:rPr>
              <a:t>Can write a class with __init__, three methods, and __repr__ without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41448"/>
            <a:ext cx="292608" cy="292608"/>
          </a:xfrm>
          <a:prstGeom prst="rect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9572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6EDF3"/>
                </a:solidFill>
                <a:latin typeface="Segoe UI"/>
              </a:rPr>
              <a:t>Understand what self refers to and why every method needs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99816"/>
            <a:ext cx="292608" cy="292608"/>
          </a:xfrm>
          <a:prstGeom prst="rect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54096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6EDF3"/>
                </a:solidFill>
                <a:latin typeface="Segoe UI"/>
              </a:rPr>
              <a:t>Can demonstrate instance independence with a live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58184"/>
            <a:ext cx="292608" cy="292608"/>
          </a:xfrm>
          <a:prstGeom prst="rect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1246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6EDF3"/>
                </a:solidFill>
                <a:latin typeface="Segoe UI"/>
              </a:rPr>
              <a:t>All six test types present and passing (pytest -v)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16552"/>
            <a:ext cx="292608" cy="292608"/>
          </a:xfrm>
          <a:prstGeom prst="rect">
            <a:avLst/>
          </a:prstGeom>
          <a:noFill/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70832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6EDF3"/>
                </a:solidFill>
                <a:latin typeface="Segoe UI"/>
              </a:rPr>
              <a:t>Assignment 10 submitted via GitHub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Self-Check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B949E"/>
                </a:solidFill>
                <a:latin typeface="Consolas"/>
              </a:rPr>
              <a:t>COMING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DD4BF"/>
                </a:solidFill>
                <a:latin typeface="Segoe UI Semibold"/>
              </a:rPr>
              <a:t>Week 11 — OOP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6EDF3"/>
                </a:solidFill>
                <a:latin typeface="Segoe UI"/>
              </a:rPr>
              <a:t>Composition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8B949E"/>
                </a:solidFill>
                <a:latin typeface="Segoe UI"/>
              </a:rPr>
              <a:t>Bring a working BusinessRequest class from Assignment 10 — Week 11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8B949E"/>
                </a:solidFill>
                <a:latin typeface="Segoe UI"/>
              </a:rPr>
              <a:t>builds directly on top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Consolas"/>
              </a:rPr>
              <a:t>ISM3232  ·  Week 10  ·  OOP I — Classes &amp; Objects  ·  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